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emf" ContentType="image/x-emf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hyperlink" Target="https://github.com/kyndryl-agentic-ai/bdg-sw-agents-autonomous-doc-creation-agentvisor-test" TargetMode="External"/><Relationship Id="rId3" Type="http://schemas.openxmlformats.org/officeDocument/2006/relationships/hyperlink" Target="https://github.com/kyndryl-agentic-ai/bdg-sw-agents-actionable-insights-agent-agentvisor-test" TargetMode="External"/><Relationship Id="rId4" Type="http://schemas.openxmlformats.org/officeDocument/2006/relationships/hyperlink" Target="https://github.com/kyndryl-agentic-ai/bdg-sw-agents-quality-parameter-check" TargetMode="External"/><Relationship Id="rId5" Type="http://schemas.openxmlformats.org/officeDocument/2006/relationships/hyperlink" Target="https://github.com/kyndryl-agentic-ai/bdg-sw-agents-capacity-forecast-agent-agentvisor-test" TargetMode="External"/><Relationship Id="rId6" Type="http://schemas.openxmlformats.org/officeDocument/2006/relationships/hyperlink" Target="https://github.com/kyndryl-agentic-ai/bdg-sw-agents-it-modernization-agent-v2-agentvisor-test" TargetMode="External"/><Relationship Id="rId7" Type="http://schemas.openxmlformats.org/officeDocument/2006/relationships/image" Target="../media/image1.emf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hyperlink" Target="https://github.com/kyndryl-agentic-ai/bdg-sw-agents-autonomous-doc-creation-agentvisor-test" TargetMode="External"/><Relationship Id="rId3" Type="http://schemas.openxmlformats.org/officeDocument/2006/relationships/hyperlink" Target="https://github.com/kyndryl-agentic-ai/bdg-sw-agents-actionable-insights-agent-agentvisor-test" TargetMode="External"/><Relationship Id="rId4" Type="http://schemas.openxmlformats.org/officeDocument/2006/relationships/hyperlink" Target="https://github.com/kyndryl-agentic-ai/bdg-sw-agents-quality-parameter-check" TargetMode="External"/><Relationship Id="rId5" Type="http://schemas.openxmlformats.org/officeDocument/2006/relationships/hyperlink" Target="https://github.com/kyndryl-agentic-ai/bdg-sw-agents-capacity-forecast-agent-agentvisor-test" TargetMode="External"/><Relationship Id="rId6" Type="http://schemas.openxmlformats.org/officeDocument/2006/relationships/hyperlink" Target="https://github.com/kyndryl-agentic-ai/bdg-sw-agents-it-modernization-agent-v2-agentvisor-test" TargetMode="External"/><Relationship Id="rId7" Type="http://schemas.openxmlformats.org/officeDocument/2006/relationships/image" Target="../media/image2.emf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502920" y="384048"/>
            <a:ext cx="73152" cy="475488"/>
          </a:xfrm>
          <a:prstGeom prst="rect">
            <a:avLst/>
          </a:prstGeom>
          <a:solidFill>
            <a:srgbClr val="FF462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85800" y="365760"/>
            <a:ext cx="5943600" cy="2286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400" b="1">
                <a:solidFill>
                  <a:srgbClr val="FF462D"/>
                </a:solidFill>
                <a:latin typeface="Arial"/>
              </a:rPr>
              <a:t>REFERENCES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85800" y="621792"/>
            <a:ext cx="1097280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2500" b="1">
                <a:solidFill>
                  <a:srgbClr val="1B1B1B"/>
                </a:solidFill>
                <a:latin typeface="Arial"/>
              </a:rPr>
              <a:t>5 Agents E2E — MANETU-POLICY-TEST — WITHOUT AgentVisor (baseline, 02-Aug)</a:t>
            </a:r>
          </a:p>
        </p:txBody>
      </p:sp>
      <p:cxnSp>
        <p:nvCxnSpPr>
          <p:cNvPr id="5" name="Connector 4"/>
          <p:cNvCxnSpPr/>
          <p:nvPr/>
        </p:nvCxnSpPr>
        <p:spPr>
          <a:xfrm>
            <a:off x="685800" y="1161288"/>
            <a:ext cx="10835640" cy="0"/>
          </a:xfrm>
          <a:prstGeom prst="bentConnector3">
            <a:avLst/>
          </a:prstGeom>
          <a:ln w="12700">
            <a:solidFill>
              <a:srgbClr val="D8D8D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" name="Rectangle 5"/>
          <p:cNvSpPr/>
          <p:nvPr/>
        </p:nvSpPr>
        <p:spPr>
          <a:xfrm>
            <a:off x="548640" y="1298448"/>
            <a:ext cx="11091672" cy="384048"/>
          </a:xfrm>
          <a:prstGeom prst="rect">
            <a:avLst/>
          </a:prstGeom>
          <a:solidFill>
            <a:srgbClr val="FF462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685800" y="1316736"/>
            <a:ext cx="3566160" cy="34747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050" b="1">
                <a:solidFill>
                  <a:srgbClr val="FFFFFF"/>
                </a:solidFill>
                <a:latin typeface="Segoe UI"/>
              </a:rPr>
              <a:t>AGENT (test slot · repo)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389120" y="1316736"/>
            <a:ext cx="5806440" cy="34747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050" b="1">
                <a:solidFill>
                  <a:srgbClr val="FFFFFF"/>
                </a:solidFill>
                <a:latin typeface="Segoe UI"/>
              </a:rPr>
              <a:t>FUNCTIONALITY TESTED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378440" y="1316736"/>
            <a:ext cx="1188720" cy="34747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050" b="1">
                <a:solidFill>
                  <a:srgbClr val="FFFFFF"/>
                </a:solidFill>
                <a:latin typeface="Segoe UI"/>
              </a:rPr>
              <a:t>RESULT</a:t>
            </a:r>
          </a:p>
        </p:txBody>
      </p:sp>
      <p:sp>
        <p:nvSpPr>
          <p:cNvPr id="10" name="Rectangle 9"/>
          <p:cNvSpPr/>
          <p:nvPr/>
        </p:nvSpPr>
        <p:spPr>
          <a:xfrm>
            <a:off x="548640" y="1682496"/>
            <a:ext cx="11091672" cy="672084"/>
          </a:xfrm>
          <a:prstGeom prst="rect">
            <a:avLst/>
          </a:prstGeom>
          <a:solidFill>
            <a:srgbClr val="FFFFFF"/>
          </a:solidFill>
          <a:ln w="9525">
            <a:solidFill>
              <a:srgbClr val="DDE3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85800" y="1682496"/>
            <a:ext cx="3566160" cy="67208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95000"/>
              </a:lnSpc>
            </a:pPr>
            <a:r>
              <a:rPr sz="950" b="1">
                <a:solidFill>
                  <a:srgbClr val="2F5BC4"/>
                </a:solidFill>
                <a:latin typeface="Segoe UI"/>
                <a:hlinkClick r:id="rId2"/>
              </a:rPr>
              <a:t>Agent 1: agent1-autonomous-doc-creation-kaif</a:t>
            </a:r>
          </a:p>
          <a:p>
            <a:pPr algn="l">
              <a:lnSpc>
                <a:spcPct val="95000"/>
              </a:lnSpc>
            </a:pPr>
            <a:r>
              <a:rPr sz="750" b="0">
                <a:solidFill>
                  <a:srgbClr val="6B7482"/>
                </a:solidFill>
                <a:latin typeface="Segoe UI"/>
              </a:rPr>
              <a:t>wf f2e18fc4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389120" y="1682496"/>
            <a:ext cx="5806440" cy="67208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98000"/>
              </a:lnSpc>
            </a:pPr>
            <a:r>
              <a:rPr sz="900" b="1">
                <a:solidFill>
                  <a:srgbClr val="1E9E62"/>
                </a:solidFill>
                <a:latin typeface="Segoe UI"/>
              </a:rPr>
              <a:t>✓ </a:t>
            </a:r>
            <a:r>
              <a:rPr sz="850" b="0">
                <a:solidFill>
                  <a:srgbClr val="22272E"/>
                </a:solidFill>
                <a:latin typeface="Segoe UI"/>
              </a:rPr>
              <a:t>Direct KAIF execution (Argo Succeeded)</a:t>
            </a:r>
          </a:p>
          <a:p>
            <a:pPr algn="l">
              <a:lnSpc>
                <a:spcPct val="98000"/>
              </a:lnSpc>
            </a:pPr>
            <a:r>
              <a:rPr sz="900" b="1">
                <a:solidFill>
                  <a:srgbClr val="1E9E62"/>
                </a:solidFill>
                <a:latin typeface="Segoe UI"/>
              </a:rPr>
              <a:t>✓ </a:t>
            </a:r>
            <a:r>
              <a:rPr sz="850" b="0">
                <a:solidFill>
                  <a:srgbClr val="22272E"/>
                </a:solidFill>
                <a:latin typeface="Segoe UI"/>
              </a:rPr>
              <a:t>RCA document produced (response persisted)</a:t>
            </a:r>
          </a:p>
          <a:p>
            <a:pPr algn="l">
              <a:lnSpc>
                <a:spcPct val="98000"/>
              </a:lnSpc>
            </a:pPr>
            <a:r>
              <a:rPr sz="900" b="1">
                <a:solidFill>
                  <a:srgbClr val="1E9E62"/>
                </a:solidFill>
                <a:latin typeface="Segoe UI"/>
              </a:rPr>
              <a:t>✓ </a:t>
            </a:r>
            <a:r>
              <a:rPr sz="850" b="0">
                <a:solidFill>
                  <a:srgbClr val="22272E"/>
                </a:solidFill>
                <a:latin typeface="Segoe UI"/>
              </a:rPr>
              <a:t>Results collection (8 records)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10378440" y="1881378"/>
            <a:ext cx="1170432" cy="274320"/>
          </a:xfrm>
          <a:prstGeom prst="roundRect">
            <a:avLst>
              <a:gd name="adj" fmla="val 50000"/>
            </a:avLst>
          </a:prstGeom>
          <a:solidFill>
            <a:srgbClr val="1E9E6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10378440" y="1881378"/>
            <a:ext cx="1170432" cy="2743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0000"/>
              </a:lnSpc>
            </a:pPr>
            <a:r>
              <a:rPr sz="1000" b="1">
                <a:solidFill>
                  <a:srgbClr val="FFFFFF"/>
                </a:solidFill>
                <a:latin typeface="Segoe UI"/>
              </a:rPr>
              <a:t>PASS</a:t>
            </a:r>
          </a:p>
        </p:txBody>
      </p:sp>
      <p:sp>
        <p:nvSpPr>
          <p:cNvPr id="15" name="Rectangle 14"/>
          <p:cNvSpPr/>
          <p:nvPr/>
        </p:nvSpPr>
        <p:spPr>
          <a:xfrm>
            <a:off x="548640" y="2354580"/>
            <a:ext cx="11091672" cy="672084"/>
          </a:xfrm>
          <a:prstGeom prst="rect">
            <a:avLst/>
          </a:prstGeom>
          <a:solidFill>
            <a:srgbClr val="EEF2F6"/>
          </a:solidFill>
          <a:ln w="9525">
            <a:solidFill>
              <a:srgbClr val="DDE3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685800" y="2354580"/>
            <a:ext cx="3566160" cy="67208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95000"/>
              </a:lnSpc>
            </a:pPr>
            <a:r>
              <a:rPr sz="950" b="1">
                <a:solidFill>
                  <a:srgbClr val="2F5BC4"/>
                </a:solidFill>
                <a:latin typeface="Segoe UI"/>
                <a:hlinkClick r:id="rId3"/>
              </a:rPr>
              <a:t>Agent 2: agent2-actionable-insights-agent-kaif</a:t>
            </a:r>
          </a:p>
          <a:p>
            <a:pPr algn="l">
              <a:lnSpc>
                <a:spcPct val="95000"/>
              </a:lnSpc>
            </a:pPr>
            <a:r>
              <a:rPr sz="750" b="0">
                <a:solidFill>
                  <a:srgbClr val="6B7482"/>
                </a:solidFill>
                <a:latin typeface="Segoe UI"/>
              </a:rPr>
              <a:t>wf 7ba036e2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389120" y="2354580"/>
            <a:ext cx="5806440" cy="67208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98000"/>
              </a:lnSpc>
            </a:pPr>
            <a:r>
              <a:rPr sz="900" b="1">
                <a:solidFill>
                  <a:srgbClr val="1E9E62"/>
                </a:solidFill>
                <a:latin typeface="Segoe UI"/>
              </a:rPr>
              <a:t>✓ </a:t>
            </a:r>
            <a:r>
              <a:rPr sz="850" b="0">
                <a:solidFill>
                  <a:srgbClr val="22272E"/>
                </a:solidFill>
                <a:latin typeface="Segoe UI"/>
              </a:rPr>
              <a:t>Insights sweep over Bridge data (DSL)</a:t>
            </a:r>
          </a:p>
          <a:p>
            <a:pPr algn="l">
              <a:lnSpc>
                <a:spcPct val="98000"/>
              </a:lnSpc>
            </a:pPr>
            <a:r>
              <a:rPr sz="900" b="1">
                <a:solidFill>
                  <a:srgbClr val="1E9E62"/>
                </a:solidFill>
                <a:latin typeface="Segoe UI"/>
              </a:rPr>
              <a:t>✓ </a:t>
            </a:r>
            <a:r>
              <a:rPr sz="850" b="0">
                <a:solidFill>
                  <a:srgbClr val="22272E"/>
                </a:solidFill>
                <a:latin typeface="Segoe UI"/>
              </a:rPr>
              <a:t>Response document persisted</a:t>
            </a:r>
          </a:p>
          <a:p>
            <a:pPr algn="l">
              <a:lnSpc>
                <a:spcPct val="98000"/>
              </a:lnSpc>
            </a:pPr>
            <a:r>
              <a:rPr sz="900" b="1">
                <a:solidFill>
                  <a:srgbClr val="1E9E62"/>
                </a:solidFill>
                <a:latin typeface="Segoe UI"/>
              </a:rPr>
              <a:t>✓ </a:t>
            </a:r>
            <a:r>
              <a:rPr sz="850" b="0">
                <a:solidFill>
                  <a:srgbClr val="22272E"/>
                </a:solidFill>
                <a:latin typeface="Segoe UI"/>
              </a:rPr>
              <a:t>Results collection (5 records)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10378440" y="2553462"/>
            <a:ext cx="1170432" cy="274320"/>
          </a:xfrm>
          <a:prstGeom prst="roundRect">
            <a:avLst>
              <a:gd name="adj" fmla="val 50000"/>
            </a:avLst>
          </a:prstGeom>
          <a:solidFill>
            <a:srgbClr val="1E9E6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10378440" y="2553462"/>
            <a:ext cx="1170432" cy="2743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0000"/>
              </a:lnSpc>
            </a:pPr>
            <a:r>
              <a:rPr sz="1000" b="1">
                <a:solidFill>
                  <a:srgbClr val="FFFFFF"/>
                </a:solidFill>
                <a:latin typeface="Segoe UI"/>
              </a:rPr>
              <a:t>PASS</a:t>
            </a:r>
          </a:p>
        </p:txBody>
      </p:sp>
      <p:sp>
        <p:nvSpPr>
          <p:cNvPr id="20" name="Rectangle 19"/>
          <p:cNvSpPr/>
          <p:nvPr/>
        </p:nvSpPr>
        <p:spPr>
          <a:xfrm>
            <a:off x="548640" y="3026664"/>
            <a:ext cx="11091672" cy="672084"/>
          </a:xfrm>
          <a:prstGeom prst="rect">
            <a:avLst/>
          </a:prstGeom>
          <a:solidFill>
            <a:srgbClr val="FFFFFF"/>
          </a:solidFill>
          <a:ln w="9525">
            <a:solidFill>
              <a:srgbClr val="DDE3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685800" y="3026664"/>
            <a:ext cx="3566160" cy="67208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95000"/>
              </a:lnSpc>
            </a:pPr>
            <a:r>
              <a:rPr sz="950" b="1">
                <a:solidFill>
                  <a:srgbClr val="2F5BC4"/>
                </a:solidFill>
                <a:latin typeface="Segoe UI"/>
                <a:hlinkClick r:id="rId4"/>
              </a:rPr>
              <a:t>Agent 3: agent3-quality-parameter-check-kaif</a:t>
            </a:r>
          </a:p>
          <a:p>
            <a:pPr algn="l">
              <a:lnSpc>
                <a:spcPct val="95000"/>
              </a:lnSpc>
            </a:pPr>
            <a:r>
              <a:rPr sz="750" b="0">
                <a:solidFill>
                  <a:srgbClr val="6B7482"/>
                </a:solidFill>
                <a:latin typeface="Segoe UI"/>
              </a:rPr>
              <a:t>wf 78c4fb90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4389120" y="3026664"/>
            <a:ext cx="5806440" cy="67208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98000"/>
              </a:lnSpc>
            </a:pPr>
            <a:r>
              <a:rPr sz="900" b="1">
                <a:solidFill>
                  <a:srgbClr val="1E9E62"/>
                </a:solidFill>
                <a:latin typeface="Segoe UI"/>
              </a:rPr>
              <a:t>✓ </a:t>
            </a:r>
            <a:r>
              <a:rPr sz="850" b="0">
                <a:solidFill>
                  <a:srgbClr val="22272E"/>
                </a:solidFill>
                <a:latin typeface="Segoe UI"/>
              </a:rPr>
              <a:t>Ticket quality analysis</a:t>
            </a:r>
          </a:p>
          <a:p>
            <a:pPr algn="l">
              <a:lnSpc>
                <a:spcPct val="98000"/>
              </a:lnSpc>
            </a:pPr>
            <a:r>
              <a:rPr sz="900" b="1">
                <a:solidFill>
                  <a:srgbClr val="1E9E62"/>
                </a:solidFill>
                <a:latin typeface="Segoe UI"/>
              </a:rPr>
              <a:t>✓ </a:t>
            </a:r>
            <a:r>
              <a:rPr sz="850" b="0">
                <a:solidFill>
                  <a:srgbClr val="22272E"/>
                </a:solidFill>
                <a:latin typeface="Segoe UI"/>
              </a:rPr>
              <a:t>Response document persisted</a:t>
            </a:r>
          </a:p>
          <a:p>
            <a:pPr algn="l">
              <a:lnSpc>
                <a:spcPct val="98000"/>
              </a:lnSpc>
            </a:pPr>
            <a:r>
              <a:rPr sz="900" b="1">
                <a:solidFill>
                  <a:srgbClr val="1E9E62"/>
                </a:solidFill>
                <a:latin typeface="Segoe UI"/>
              </a:rPr>
              <a:t>✓ </a:t>
            </a:r>
            <a:r>
              <a:rPr sz="850" b="0">
                <a:solidFill>
                  <a:srgbClr val="22272E"/>
                </a:solidFill>
                <a:latin typeface="Segoe UI"/>
              </a:rPr>
              <a:t>Results collection (9 records)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10378440" y="3225546"/>
            <a:ext cx="1170432" cy="274320"/>
          </a:xfrm>
          <a:prstGeom prst="roundRect">
            <a:avLst>
              <a:gd name="adj" fmla="val 50000"/>
            </a:avLst>
          </a:prstGeom>
          <a:solidFill>
            <a:srgbClr val="1E9E6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10378440" y="3225546"/>
            <a:ext cx="1170432" cy="2743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0000"/>
              </a:lnSpc>
            </a:pPr>
            <a:r>
              <a:rPr sz="1000" b="1">
                <a:solidFill>
                  <a:srgbClr val="FFFFFF"/>
                </a:solidFill>
                <a:latin typeface="Segoe UI"/>
              </a:rPr>
              <a:t>PASS</a:t>
            </a:r>
          </a:p>
        </p:txBody>
      </p:sp>
      <p:sp>
        <p:nvSpPr>
          <p:cNvPr id="25" name="Rectangle 24"/>
          <p:cNvSpPr/>
          <p:nvPr/>
        </p:nvSpPr>
        <p:spPr>
          <a:xfrm>
            <a:off x="548640" y="3698748"/>
            <a:ext cx="11091672" cy="672084"/>
          </a:xfrm>
          <a:prstGeom prst="rect">
            <a:avLst/>
          </a:prstGeom>
          <a:solidFill>
            <a:srgbClr val="EEF2F6"/>
          </a:solidFill>
          <a:ln w="9525">
            <a:solidFill>
              <a:srgbClr val="DDE3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685800" y="3698748"/>
            <a:ext cx="3566160" cy="67208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95000"/>
              </a:lnSpc>
            </a:pPr>
            <a:r>
              <a:rPr sz="950" b="1">
                <a:solidFill>
                  <a:srgbClr val="2F5BC4"/>
                </a:solidFill>
                <a:latin typeface="Segoe UI"/>
                <a:hlinkClick r:id="rId5"/>
              </a:rPr>
              <a:t>Agent 4: agent4-capacity-forecast-agent-kaif</a:t>
            </a:r>
          </a:p>
          <a:p>
            <a:pPr algn="l">
              <a:lnSpc>
                <a:spcPct val="95000"/>
              </a:lnSpc>
            </a:pPr>
            <a:r>
              <a:rPr sz="750" b="0">
                <a:solidFill>
                  <a:srgbClr val="6B7482"/>
                </a:solidFill>
                <a:latin typeface="Segoe UI"/>
              </a:rPr>
              <a:t>wf 9e476d65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4389120" y="3698748"/>
            <a:ext cx="5806440" cy="67208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98000"/>
              </a:lnSpc>
            </a:pPr>
            <a:r>
              <a:rPr sz="900" b="1">
                <a:solidFill>
                  <a:srgbClr val="1E9E62"/>
                </a:solidFill>
                <a:latin typeface="Segoe UI"/>
              </a:rPr>
              <a:t>✓ </a:t>
            </a:r>
            <a:r>
              <a:rPr sz="850" b="0">
                <a:solidFill>
                  <a:srgbClr val="22272E"/>
                </a:solidFill>
                <a:latin typeface="Segoe UI"/>
              </a:rPr>
              <a:t>Capacity forecast analysis (memory)</a:t>
            </a:r>
          </a:p>
          <a:p>
            <a:pPr algn="l">
              <a:lnSpc>
                <a:spcPct val="98000"/>
              </a:lnSpc>
            </a:pPr>
            <a:r>
              <a:rPr sz="900" b="1">
                <a:solidFill>
                  <a:srgbClr val="1E9E62"/>
                </a:solidFill>
                <a:latin typeface="Segoe UI"/>
              </a:rPr>
              <a:t>✓ </a:t>
            </a:r>
            <a:r>
              <a:rPr sz="850" b="0">
                <a:solidFill>
                  <a:srgbClr val="22272E"/>
                </a:solidFill>
                <a:latin typeface="Segoe UI"/>
              </a:rPr>
              <a:t>Response document persisted</a:t>
            </a:r>
          </a:p>
          <a:p>
            <a:pPr algn="l">
              <a:lnSpc>
                <a:spcPct val="98000"/>
              </a:lnSpc>
            </a:pPr>
            <a:r>
              <a:rPr sz="900" b="1">
                <a:solidFill>
                  <a:srgbClr val="1E9E62"/>
                </a:solidFill>
                <a:latin typeface="Segoe UI"/>
              </a:rPr>
              <a:t>✓ </a:t>
            </a:r>
            <a:r>
              <a:rPr sz="850" b="0">
                <a:solidFill>
                  <a:srgbClr val="22272E"/>
                </a:solidFill>
                <a:latin typeface="Segoe UI"/>
              </a:rPr>
              <a:t>Results collection (11 records)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10378440" y="3897630"/>
            <a:ext cx="1170432" cy="274320"/>
          </a:xfrm>
          <a:prstGeom prst="roundRect">
            <a:avLst>
              <a:gd name="adj" fmla="val 50000"/>
            </a:avLst>
          </a:prstGeom>
          <a:solidFill>
            <a:srgbClr val="1E9E6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10378440" y="3897630"/>
            <a:ext cx="1170432" cy="2743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0000"/>
              </a:lnSpc>
            </a:pPr>
            <a:r>
              <a:rPr sz="1000" b="1">
                <a:solidFill>
                  <a:srgbClr val="FFFFFF"/>
                </a:solidFill>
                <a:latin typeface="Segoe UI"/>
              </a:rPr>
              <a:t>PASS</a:t>
            </a:r>
          </a:p>
        </p:txBody>
      </p:sp>
      <p:sp>
        <p:nvSpPr>
          <p:cNvPr id="30" name="Rectangle 29"/>
          <p:cNvSpPr/>
          <p:nvPr/>
        </p:nvSpPr>
        <p:spPr>
          <a:xfrm>
            <a:off x="548640" y="4370832"/>
            <a:ext cx="11091672" cy="672084"/>
          </a:xfrm>
          <a:prstGeom prst="rect">
            <a:avLst/>
          </a:prstGeom>
          <a:solidFill>
            <a:srgbClr val="FFFFFF"/>
          </a:solidFill>
          <a:ln w="9525">
            <a:solidFill>
              <a:srgbClr val="DDE3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685800" y="4370832"/>
            <a:ext cx="3566160" cy="67208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95000"/>
              </a:lnSpc>
            </a:pPr>
            <a:r>
              <a:rPr sz="950" b="1">
                <a:solidFill>
                  <a:srgbClr val="2F5BC4"/>
                </a:solidFill>
                <a:latin typeface="Segoe UI"/>
                <a:hlinkClick r:id="rId6"/>
              </a:rPr>
              <a:t>Agent 5: agent5-it-modernization-agent-v2-kaif</a:t>
            </a:r>
          </a:p>
          <a:p>
            <a:pPr algn="l">
              <a:lnSpc>
                <a:spcPct val="95000"/>
              </a:lnSpc>
            </a:pPr>
            <a:r>
              <a:rPr sz="750" b="0">
                <a:solidFill>
                  <a:srgbClr val="6B7482"/>
                </a:solidFill>
                <a:latin typeface="Segoe UI"/>
              </a:rPr>
              <a:t>wf 70206cec · ~12 min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4389120" y="4370832"/>
            <a:ext cx="5806440" cy="67208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98000"/>
              </a:lnSpc>
            </a:pPr>
            <a:r>
              <a:rPr sz="900" b="1">
                <a:solidFill>
                  <a:srgbClr val="1E9E62"/>
                </a:solidFill>
                <a:latin typeface="Segoe UI"/>
              </a:rPr>
              <a:t>✓ </a:t>
            </a:r>
            <a:r>
              <a:rPr sz="850" b="0">
                <a:solidFill>
                  <a:srgbClr val="22272E"/>
                </a:solidFill>
                <a:latin typeface="Segoe UI"/>
              </a:rPr>
              <a:t>Full graph straight-through (no HITL in pure mode)</a:t>
            </a:r>
          </a:p>
          <a:p>
            <a:pPr algn="l">
              <a:lnSpc>
                <a:spcPct val="98000"/>
              </a:lnSpc>
            </a:pPr>
            <a:r>
              <a:rPr sz="900" b="1">
                <a:solidFill>
                  <a:srgbClr val="1E9E62"/>
                </a:solidFill>
                <a:latin typeface="Segoe UI"/>
              </a:rPr>
              <a:t>✓ </a:t>
            </a:r>
            <a:r>
              <a:rPr sz="850" b="0">
                <a:solidFill>
                  <a:srgbClr val="22272E"/>
                </a:solidFill>
                <a:latin typeface="Segoe UI"/>
              </a:rPr>
              <a:t>Readiness report generated (response persisted)</a:t>
            </a:r>
          </a:p>
          <a:p>
            <a:pPr algn="l">
              <a:lnSpc>
                <a:spcPct val="98000"/>
              </a:lnSpc>
            </a:pPr>
            <a:r>
              <a:rPr sz="900" b="1">
                <a:solidFill>
                  <a:srgbClr val="1E9E62"/>
                </a:solidFill>
                <a:latin typeface="Segoe UI"/>
              </a:rPr>
              <a:t>✓ </a:t>
            </a:r>
            <a:r>
              <a:rPr sz="850" b="0">
                <a:solidFill>
                  <a:srgbClr val="22272E"/>
                </a:solidFill>
                <a:latin typeface="Segoe UI"/>
              </a:rPr>
              <a:t>Results collection (16 records)</a:t>
            </a:r>
          </a:p>
        </p:txBody>
      </p:sp>
      <p:sp>
        <p:nvSpPr>
          <p:cNvPr id="33" name="Rounded Rectangle 32"/>
          <p:cNvSpPr/>
          <p:nvPr/>
        </p:nvSpPr>
        <p:spPr>
          <a:xfrm>
            <a:off x="10378440" y="4569714"/>
            <a:ext cx="1170432" cy="274320"/>
          </a:xfrm>
          <a:prstGeom prst="roundRect">
            <a:avLst>
              <a:gd name="adj" fmla="val 50000"/>
            </a:avLst>
          </a:prstGeom>
          <a:solidFill>
            <a:srgbClr val="1E9E6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10378440" y="4569714"/>
            <a:ext cx="1170432" cy="2743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0000"/>
              </a:lnSpc>
            </a:pPr>
            <a:r>
              <a:rPr sz="1000" b="1">
                <a:solidFill>
                  <a:srgbClr val="FFFFFF"/>
                </a:solidFill>
                <a:latin typeface="Segoe UI"/>
              </a:rPr>
              <a:t>PASS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685800" y="5088636"/>
            <a:ext cx="1083564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0">
                <a:solidFill>
                  <a:srgbClr val="6B7482"/>
                </a:solidFill>
                <a:latin typeface="Segoe UI"/>
              </a:rPr>
              <a:t>✓ PASS — pure-KAIF twins (no AgentVisor wrapper), all 5 submitted in parallel on www (wus2), zero flakes. Known MANETU tenant caveat (0-row data-lake scope) applies equally to both variants.</a:t>
            </a:r>
          </a:p>
        </p:txBody>
      </p:sp>
      <p:cxnSp>
        <p:nvCxnSpPr>
          <p:cNvPr id="36" name="Connector 35"/>
          <p:cNvCxnSpPr/>
          <p:nvPr/>
        </p:nvCxnSpPr>
        <p:spPr>
          <a:xfrm>
            <a:off x="594360" y="6327648"/>
            <a:ext cx="11000232" cy="0"/>
          </a:xfrm>
          <a:prstGeom prst="bentConnector3">
            <a:avLst/>
          </a:prstGeom>
          <a:ln w="12700">
            <a:solidFill>
              <a:srgbClr val="D8D8D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7" name="TextBox 36"/>
          <p:cNvSpPr txBox="1"/>
          <p:nvPr/>
        </p:nvSpPr>
        <p:spPr>
          <a:xfrm>
            <a:off x="10378440" y="6501384"/>
            <a:ext cx="384048" cy="16459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r">
              <a:lnSpc>
                <a:spcPct val="100000"/>
              </a:lnSpc>
            </a:pPr>
            <a:r>
              <a:rPr sz="700" b="0">
                <a:solidFill>
                  <a:srgbClr val="8A8A86"/>
                </a:solidFill>
                <a:latin typeface="Segoe UI"/>
              </a:rPr>
              <a:t>82</a:t>
            </a:r>
          </a:p>
        </p:txBody>
      </p:sp>
      <p:sp>
        <p:nvSpPr>
          <p:cNvPr id="38" name="Rectangle 37"/>
          <p:cNvSpPr/>
          <p:nvPr/>
        </p:nvSpPr>
        <p:spPr>
          <a:xfrm>
            <a:off x="11850624" y="6556248"/>
            <a:ext cx="73152" cy="73152"/>
          </a:xfrm>
          <a:prstGeom prst="rect">
            <a:avLst/>
          </a:prstGeom>
          <a:solidFill>
            <a:srgbClr val="FF462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7" name="Imagen 8">
            <a:extLst>
              <a:ext uri="{FF2B5EF4-FFF2-40B4-BE49-F238E27FC236}">
                <a16:creationId xmlns:a16="http://schemas.microsoft.com/office/drawing/2014/main" id="{22918B08-630C-E64B-EEF7-8B3247010F2E}"/>
              </a:ext>
            </a:extLst>
          </p:cNvPr>
          <p:cNvPicPr>
            <a:picLocks noChangeAspect="1"/>
          </p:cNvPicPr>
          <p:nvPr/>
        </p:nvPicPr>
        <p:blipFill>
          <a:blip r:embed="rId7"/>
          <a:srcRect r="51667"/>
          <a:stretch>
            <a:fillRect/>
          </a:stretch>
        </p:blipFill>
        <p:spPr>
          <a:xfrm>
            <a:off x="11125462" y="6507493"/>
            <a:ext cx="516813" cy="170661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502920" y="384048"/>
            <a:ext cx="73152" cy="475488"/>
          </a:xfrm>
          <a:prstGeom prst="rect">
            <a:avLst/>
          </a:prstGeom>
          <a:solidFill>
            <a:srgbClr val="FF462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85800" y="365760"/>
            <a:ext cx="5943600" cy="2286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400" b="1">
                <a:solidFill>
                  <a:srgbClr val="FF462D"/>
                </a:solidFill>
                <a:latin typeface="Arial"/>
              </a:rPr>
              <a:t>REFERENCES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85800" y="621792"/>
            <a:ext cx="1097280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2500" b="1">
                <a:solidFill>
                  <a:srgbClr val="1B1B1B"/>
                </a:solidFill>
                <a:latin typeface="Arial"/>
              </a:rPr>
              <a:t>5 Agents E2E — MANETU-POLICY-TEST — WITH AgentVisor (wrapped, 02-Aug)</a:t>
            </a:r>
          </a:p>
        </p:txBody>
      </p:sp>
      <p:cxnSp>
        <p:nvCxnSpPr>
          <p:cNvPr id="5" name="Connector 4"/>
          <p:cNvCxnSpPr/>
          <p:nvPr/>
        </p:nvCxnSpPr>
        <p:spPr>
          <a:xfrm>
            <a:off x="685800" y="1161288"/>
            <a:ext cx="10835640" cy="0"/>
          </a:xfrm>
          <a:prstGeom prst="bentConnector3">
            <a:avLst/>
          </a:prstGeom>
          <a:ln w="12700">
            <a:solidFill>
              <a:srgbClr val="D8D8D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" name="Rectangle 5"/>
          <p:cNvSpPr/>
          <p:nvPr/>
        </p:nvSpPr>
        <p:spPr>
          <a:xfrm>
            <a:off x="548640" y="1298448"/>
            <a:ext cx="11091672" cy="384048"/>
          </a:xfrm>
          <a:prstGeom prst="rect">
            <a:avLst/>
          </a:prstGeom>
          <a:solidFill>
            <a:srgbClr val="FF462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685800" y="1316736"/>
            <a:ext cx="3566160" cy="34747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050" b="1">
                <a:solidFill>
                  <a:srgbClr val="FFFFFF"/>
                </a:solidFill>
                <a:latin typeface="Segoe UI"/>
              </a:rPr>
              <a:t>AGENT (test slot · repo)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389120" y="1316736"/>
            <a:ext cx="5806440" cy="34747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050" b="1">
                <a:solidFill>
                  <a:srgbClr val="FFFFFF"/>
                </a:solidFill>
                <a:latin typeface="Segoe UI"/>
              </a:rPr>
              <a:t>FUNCTIONALITY TESTED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378440" y="1316736"/>
            <a:ext cx="1188720" cy="34747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050" b="1">
                <a:solidFill>
                  <a:srgbClr val="FFFFFF"/>
                </a:solidFill>
                <a:latin typeface="Segoe UI"/>
              </a:rPr>
              <a:t>RESULT</a:t>
            </a:r>
          </a:p>
        </p:txBody>
      </p:sp>
      <p:sp>
        <p:nvSpPr>
          <p:cNvPr id="10" name="Rectangle 9"/>
          <p:cNvSpPr/>
          <p:nvPr/>
        </p:nvSpPr>
        <p:spPr>
          <a:xfrm>
            <a:off x="548640" y="1682496"/>
            <a:ext cx="11091672" cy="672084"/>
          </a:xfrm>
          <a:prstGeom prst="rect">
            <a:avLst/>
          </a:prstGeom>
          <a:solidFill>
            <a:srgbClr val="FFFFFF"/>
          </a:solidFill>
          <a:ln w="9525">
            <a:solidFill>
              <a:srgbClr val="DDE3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85800" y="1682496"/>
            <a:ext cx="3566160" cy="67208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95000"/>
              </a:lnSpc>
            </a:pPr>
            <a:r>
              <a:rPr sz="950" b="1">
                <a:solidFill>
                  <a:srgbClr val="2F5BC4"/>
                </a:solidFill>
                <a:latin typeface="Segoe UI"/>
                <a:hlinkClick r:id="rId2"/>
              </a:rPr>
              <a:t>Agent 1: agent1-autonomous-doc-creation-agentvisor-test</a:t>
            </a:r>
          </a:p>
          <a:p>
            <a:pPr algn="l">
              <a:lnSpc>
                <a:spcPct val="95000"/>
              </a:lnSpc>
            </a:pPr>
            <a:r>
              <a:rPr sz="750" b="0">
                <a:solidFill>
                  <a:srgbClr val="6B7482"/>
                </a:solidFill>
                <a:latin typeface="Segoe UI"/>
              </a:rPr>
              <a:t>wf 36d4bda4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389120" y="1682496"/>
            <a:ext cx="5806440" cy="67208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98000"/>
              </a:lnSpc>
            </a:pPr>
            <a:r>
              <a:rPr sz="900" b="1">
                <a:solidFill>
                  <a:srgbClr val="1E9E62"/>
                </a:solidFill>
                <a:latin typeface="Segoe UI"/>
              </a:rPr>
              <a:t>✓ </a:t>
            </a:r>
            <a:r>
              <a:rPr sz="850" b="0">
                <a:solidFill>
                  <a:srgbClr val="22272E"/>
                </a:solidFill>
                <a:latin typeface="Segoe UI"/>
              </a:rPr>
              <a:t>Sandboxed execution (gVisor guest)</a:t>
            </a:r>
          </a:p>
          <a:p>
            <a:pPr algn="l">
              <a:lnSpc>
                <a:spcPct val="98000"/>
              </a:lnSpc>
            </a:pPr>
            <a:r>
              <a:rPr sz="900" b="1">
                <a:solidFill>
                  <a:srgbClr val="1E9E62"/>
                </a:solidFill>
                <a:latin typeface="Segoe UI"/>
              </a:rPr>
              <a:t>✓ </a:t>
            </a:r>
            <a:r>
              <a:rPr sz="850" b="0">
                <a:solidFill>
                  <a:srgbClr val="22272E"/>
                </a:solidFill>
                <a:latin typeface="Segoe UI"/>
              </a:rPr>
              <a:t>RCA document produced (response persisted)</a:t>
            </a:r>
          </a:p>
          <a:p>
            <a:pPr algn="l">
              <a:lnSpc>
                <a:spcPct val="98000"/>
              </a:lnSpc>
            </a:pPr>
            <a:r>
              <a:rPr sz="900" b="1">
                <a:solidFill>
                  <a:srgbClr val="1E9E62"/>
                </a:solidFill>
                <a:latin typeface="Segoe UI"/>
              </a:rPr>
              <a:t>✓ </a:t>
            </a:r>
            <a:r>
              <a:rPr sz="850" b="0">
                <a:solidFill>
                  <a:srgbClr val="22272E"/>
                </a:solidFill>
                <a:latin typeface="Segoe UI"/>
              </a:rPr>
              <a:t>Results collection (10 records)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10378440" y="1881378"/>
            <a:ext cx="1170432" cy="274320"/>
          </a:xfrm>
          <a:prstGeom prst="roundRect">
            <a:avLst>
              <a:gd name="adj" fmla="val 50000"/>
            </a:avLst>
          </a:prstGeom>
          <a:solidFill>
            <a:srgbClr val="1E9E6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10378440" y="1881378"/>
            <a:ext cx="1170432" cy="2743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0000"/>
              </a:lnSpc>
            </a:pPr>
            <a:r>
              <a:rPr sz="1000" b="1">
                <a:solidFill>
                  <a:srgbClr val="FFFFFF"/>
                </a:solidFill>
                <a:latin typeface="Segoe UI"/>
              </a:rPr>
              <a:t>PASS</a:t>
            </a:r>
          </a:p>
        </p:txBody>
      </p:sp>
      <p:sp>
        <p:nvSpPr>
          <p:cNvPr id="15" name="Rectangle 14"/>
          <p:cNvSpPr/>
          <p:nvPr/>
        </p:nvSpPr>
        <p:spPr>
          <a:xfrm>
            <a:off x="548640" y="2354580"/>
            <a:ext cx="11091672" cy="672084"/>
          </a:xfrm>
          <a:prstGeom prst="rect">
            <a:avLst/>
          </a:prstGeom>
          <a:solidFill>
            <a:srgbClr val="EEF2F6"/>
          </a:solidFill>
          <a:ln w="9525">
            <a:solidFill>
              <a:srgbClr val="DDE3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685800" y="2354580"/>
            <a:ext cx="3566160" cy="67208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95000"/>
              </a:lnSpc>
            </a:pPr>
            <a:r>
              <a:rPr sz="950" b="1">
                <a:solidFill>
                  <a:srgbClr val="2F5BC4"/>
                </a:solidFill>
                <a:latin typeface="Segoe UI"/>
                <a:hlinkClick r:id="rId3"/>
              </a:rPr>
              <a:t>Agent 2: agent2-actionable-insights-agent-agentvisor-test</a:t>
            </a:r>
          </a:p>
          <a:p>
            <a:pPr algn="l">
              <a:lnSpc>
                <a:spcPct val="95000"/>
              </a:lnSpc>
            </a:pPr>
            <a:r>
              <a:rPr sz="750" b="0">
                <a:solidFill>
                  <a:srgbClr val="6B7482"/>
                </a:solidFill>
                <a:latin typeface="Segoe UI"/>
              </a:rPr>
              <a:t>wf 851ad348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389120" y="2354580"/>
            <a:ext cx="5806440" cy="67208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98000"/>
              </a:lnSpc>
            </a:pPr>
            <a:r>
              <a:rPr sz="900" b="1">
                <a:solidFill>
                  <a:srgbClr val="1E9E62"/>
                </a:solidFill>
                <a:latin typeface="Segoe UI"/>
              </a:rPr>
              <a:t>✓ </a:t>
            </a:r>
            <a:r>
              <a:rPr sz="850" b="0">
                <a:solidFill>
                  <a:srgbClr val="22272E"/>
                </a:solidFill>
                <a:latin typeface="Segoe UI"/>
              </a:rPr>
              <a:t>Insights sweep via host MCP bridge</a:t>
            </a:r>
          </a:p>
          <a:p>
            <a:pPr algn="l">
              <a:lnSpc>
                <a:spcPct val="98000"/>
              </a:lnSpc>
            </a:pPr>
            <a:r>
              <a:rPr sz="900" b="1">
                <a:solidFill>
                  <a:srgbClr val="1E9E62"/>
                </a:solidFill>
                <a:latin typeface="Segoe UI"/>
              </a:rPr>
              <a:t>✓ </a:t>
            </a:r>
            <a:r>
              <a:rPr sz="850" b="0">
                <a:solidFill>
                  <a:srgbClr val="22272E"/>
                </a:solidFill>
                <a:latin typeface="Segoe UI"/>
              </a:rPr>
              <a:t>Response document persisted</a:t>
            </a:r>
          </a:p>
          <a:p>
            <a:pPr algn="l">
              <a:lnSpc>
                <a:spcPct val="98000"/>
              </a:lnSpc>
            </a:pPr>
            <a:r>
              <a:rPr sz="900" b="1">
                <a:solidFill>
                  <a:srgbClr val="1E9E62"/>
                </a:solidFill>
                <a:latin typeface="Segoe UI"/>
              </a:rPr>
              <a:t>✓ </a:t>
            </a:r>
            <a:r>
              <a:rPr sz="850" b="0">
                <a:solidFill>
                  <a:srgbClr val="22272E"/>
                </a:solidFill>
                <a:latin typeface="Segoe UI"/>
              </a:rPr>
              <a:t>Results collection (7 records)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10378440" y="2553462"/>
            <a:ext cx="1170432" cy="274320"/>
          </a:xfrm>
          <a:prstGeom prst="roundRect">
            <a:avLst>
              <a:gd name="adj" fmla="val 50000"/>
            </a:avLst>
          </a:prstGeom>
          <a:solidFill>
            <a:srgbClr val="1E9E6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10378440" y="2553462"/>
            <a:ext cx="1170432" cy="2743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0000"/>
              </a:lnSpc>
            </a:pPr>
            <a:r>
              <a:rPr sz="1000" b="1">
                <a:solidFill>
                  <a:srgbClr val="FFFFFF"/>
                </a:solidFill>
                <a:latin typeface="Segoe UI"/>
              </a:rPr>
              <a:t>PASS</a:t>
            </a:r>
          </a:p>
        </p:txBody>
      </p:sp>
      <p:sp>
        <p:nvSpPr>
          <p:cNvPr id="20" name="Rectangle 19"/>
          <p:cNvSpPr/>
          <p:nvPr/>
        </p:nvSpPr>
        <p:spPr>
          <a:xfrm>
            <a:off x="548640" y="3026664"/>
            <a:ext cx="11091672" cy="672084"/>
          </a:xfrm>
          <a:prstGeom prst="rect">
            <a:avLst/>
          </a:prstGeom>
          <a:solidFill>
            <a:srgbClr val="FFFFFF"/>
          </a:solidFill>
          <a:ln w="9525">
            <a:solidFill>
              <a:srgbClr val="DDE3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685800" y="3026664"/>
            <a:ext cx="3566160" cy="67208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95000"/>
              </a:lnSpc>
            </a:pPr>
            <a:r>
              <a:rPr sz="950" b="1">
                <a:solidFill>
                  <a:srgbClr val="2F5BC4"/>
                </a:solidFill>
                <a:latin typeface="Segoe UI"/>
                <a:hlinkClick r:id="rId4"/>
              </a:rPr>
              <a:t>Agent 3: agent3-quality-parameter-check-agentvisor-test</a:t>
            </a:r>
          </a:p>
          <a:p>
            <a:pPr algn="l">
              <a:lnSpc>
                <a:spcPct val="95000"/>
              </a:lnSpc>
            </a:pPr>
            <a:r>
              <a:rPr sz="750" b="0">
                <a:solidFill>
                  <a:srgbClr val="6B7482"/>
                </a:solidFill>
                <a:latin typeface="Segoe UI"/>
              </a:rPr>
              <a:t>release-2026.08.02-131-1 (wrapper #42+#43) · wf 6d7855a3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4389120" y="3026664"/>
            <a:ext cx="5806440" cy="67208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98000"/>
              </a:lnSpc>
            </a:pPr>
            <a:r>
              <a:rPr sz="900" b="1">
                <a:solidFill>
                  <a:srgbClr val="1E9E62"/>
                </a:solidFill>
                <a:latin typeface="Segoe UI"/>
              </a:rPr>
              <a:t>✓ </a:t>
            </a:r>
            <a:r>
              <a:rPr sz="850" b="0">
                <a:solidFill>
                  <a:srgbClr val="22272E"/>
                </a:solidFill>
                <a:latin typeface="Segoe UI"/>
              </a:rPr>
              <a:t>Ticket quality analysis</a:t>
            </a:r>
          </a:p>
          <a:p>
            <a:pPr algn="l">
              <a:lnSpc>
                <a:spcPct val="98000"/>
              </a:lnSpc>
            </a:pPr>
            <a:r>
              <a:rPr sz="900" b="1">
                <a:solidFill>
                  <a:srgbClr val="1E9E62"/>
                </a:solidFill>
                <a:latin typeface="Segoe UI"/>
              </a:rPr>
              <a:t>✓ </a:t>
            </a:r>
            <a:r>
              <a:rPr sz="850" b="0">
                <a:solidFill>
                  <a:srgbClr val="22272E"/>
                </a:solidFill>
                <a:latin typeface="Segoe UI"/>
              </a:rPr>
              <a:t>Terminal status sync — NO flake (relay size-cap fix live)</a:t>
            </a:r>
          </a:p>
          <a:p>
            <a:pPr algn="l">
              <a:lnSpc>
                <a:spcPct val="98000"/>
              </a:lnSpc>
            </a:pPr>
            <a:r>
              <a:rPr sz="900" b="1">
                <a:solidFill>
                  <a:srgbClr val="1E9E62"/>
                </a:solidFill>
                <a:latin typeface="Segoe UI"/>
              </a:rPr>
              <a:t>✓ </a:t>
            </a:r>
            <a:r>
              <a:rPr sz="850" b="0">
                <a:solidFill>
                  <a:srgbClr val="22272E"/>
                </a:solidFill>
                <a:latin typeface="Segoe UI"/>
              </a:rPr>
              <a:t>Results collection (11 records + response)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10378440" y="3225546"/>
            <a:ext cx="1170432" cy="274320"/>
          </a:xfrm>
          <a:prstGeom prst="roundRect">
            <a:avLst>
              <a:gd name="adj" fmla="val 50000"/>
            </a:avLst>
          </a:prstGeom>
          <a:solidFill>
            <a:srgbClr val="1E9E6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10378440" y="3225546"/>
            <a:ext cx="1170432" cy="2743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0000"/>
              </a:lnSpc>
            </a:pPr>
            <a:r>
              <a:rPr sz="1000" b="1">
                <a:solidFill>
                  <a:srgbClr val="FFFFFF"/>
                </a:solidFill>
                <a:latin typeface="Segoe UI"/>
              </a:rPr>
              <a:t>PASS</a:t>
            </a:r>
          </a:p>
        </p:txBody>
      </p:sp>
      <p:sp>
        <p:nvSpPr>
          <p:cNvPr id="25" name="Rectangle 24"/>
          <p:cNvSpPr/>
          <p:nvPr/>
        </p:nvSpPr>
        <p:spPr>
          <a:xfrm>
            <a:off x="548640" y="3698748"/>
            <a:ext cx="11091672" cy="672084"/>
          </a:xfrm>
          <a:prstGeom prst="rect">
            <a:avLst/>
          </a:prstGeom>
          <a:solidFill>
            <a:srgbClr val="EEF2F6"/>
          </a:solidFill>
          <a:ln w="9525">
            <a:solidFill>
              <a:srgbClr val="DDE3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685800" y="3698748"/>
            <a:ext cx="3566160" cy="67208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95000"/>
              </a:lnSpc>
            </a:pPr>
            <a:r>
              <a:rPr sz="950" b="1">
                <a:solidFill>
                  <a:srgbClr val="2F5BC4"/>
                </a:solidFill>
                <a:latin typeface="Segoe UI"/>
                <a:hlinkClick r:id="rId5"/>
              </a:rPr>
              <a:t>Agent 4: agent4-capacity-forecast-agent-agentvisor-test</a:t>
            </a:r>
          </a:p>
          <a:p>
            <a:pPr algn="l">
              <a:lnSpc>
                <a:spcPct val="95000"/>
              </a:lnSpc>
            </a:pPr>
            <a:r>
              <a:rPr sz="750" b="0">
                <a:solidFill>
                  <a:srgbClr val="6B7482"/>
                </a:solidFill>
                <a:latin typeface="Segoe UI"/>
              </a:rPr>
              <a:t>wf 4ec636f1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4389120" y="3698748"/>
            <a:ext cx="5806440" cy="67208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98000"/>
              </a:lnSpc>
            </a:pPr>
            <a:r>
              <a:rPr sz="900" b="1">
                <a:solidFill>
                  <a:srgbClr val="1E9E62"/>
                </a:solidFill>
                <a:latin typeface="Segoe UI"/>
              </a:rPr>
              <a:t>✓ </a:t>
            </a:r>
            <a:r>
              <a:rPr sz="850" b="0">
                <a:solidFill>
                  <a:srgbClr val="22272E"/>
                </a:solidFill>
                <a:latin typeface="Segoe UI"/>
              </a:rPr>
              <a:t>Capacity forecast analysis (memory)</a:t>
            </a:r>
          </a:p>
          <a:p>
            <a:pPr algn="l">
              <a:lnSpc>
                <a:spcPct val="98000"/>
              </a:lnSpc>
            </a:pPr>
            <a:r>
              <a:rPr sz="900" b="1">
                <a:solidFill>
                  <a:srgbClr val="1E9E62"/>
                </a:solidFill>
                <a:latin typeface="Segoe UI"/>
              </a:rPr>
              <a:t>✓ </a:t>
            </a:r>
            <a:r>
              <a:rPr sz="850" b="0">
                <a:solidFill>
                  <a:srgbClr val="22272E"/>
                </a:solidFill>
                <a:latin typeface="Segoe UI"/>
              </a:rPr>
              <a:t>Response document persisted</a:t>
            </a:r>
          </a:p>
          <a:p>
            <a:pPr algn="l">
              <a:lnSpc>
                <a:spcPct val="98000"/>
              </a:lnSpc>
            </a:pPr>
            <a:r>
              <a:rPr sz="900" b="1">
                <a:solidFill>
                  <a:srgbClr val="1E9E62"/>
                </a:solidFill>
                <a:latin typeface="Segoe UI"/>
              </a:rPr>
              <a:t>✓ </a:t>
            </a:r>
            <a:r>
              <a:rPr sz="850" b="0">
                <a:solidFill>
                  <a:srgbClr val="22272E"/>
                </a:solidFill>
                <a:latin typeface="Segoe UI"/>
              </a:rPr>
              <a:t>Results collection (13 records)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10378440" y="3897630"/>
            <a:ext cx="1170432" cy="274320"/>
          </a:xfrm>
          <a:prstGeom prst="roundRect">
            <a:avLst>
              <a:gd name="adj" fmla="val 50000"/>
            </a:avLst>
          </a:prstGeom>
          <a:solidFill>
            <a:srgbClr val="1E9E6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10378440" y="3897630"/>
            <a:ext cx="1170432" cy="2743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0000"/>
              </a:lnSpc>
            </a:pPr>
            <a:r>
              <a:rPr sz="1000" b="1">
                <a:solidFill>
                  <a:srgbClr val="FFFFFF"/>
                </a:solidFill>
                <a:latin typeface="Segoe UI"/>
              </a:rPr>
              <a:t>PASS</a:t>
            </a:r>
          </a:p>
        </p:txBody>
      </p:sp>
      <p:sp>
        <p:nvSpPr>
          <p:cNvPr id="30" name="Rectangle 29"/>
          <p:cNvSpPr/>
          <p:nvPr/>
        </p:nvSpPr>
        <p:spPr>
          <a:xfrm>
            <a:off x="548640" y="4370832"/>
            <a:ext cx="11091672" cy="822960"/>
          </a:xfrm>
          <a:prstGeom prst="rect">
            <a:avLst/>
          </a:prstGeom>
          <a:solidFill>
            <a:srgbClr val="FFFFFF"/>
          </a:solidFill>
          <a:ln w="9525">
            <a:solidFill>
              <a:srgbClr val="DDE3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685800" y="4370832"/>
            <a:ext cx="3566160" cy="82296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95000"/>
              </a:lnSpc>
            </a:pPr>
            <a:r>
              <a:rPr sz="950" b="1">
                <a:solidFill>
                  <a:srgbClr val="2F5BC4"/>
                </a:solidFill>
                <a:latin typeface="Segoe UI"/>
                <a:hlinkClick r:id="rId6"/>
              </a:rPr>
              <a:t>Agent 5: agent5-it-modernization-agent-v2-agentvisor-test</a:t>
            </a:r>
          </a:p>
          <a:p>
            <a:pPr algn="l">
              <a:lnSpc>
                <a:spcPct val="95000"/>
              </a:lnSpc>
            </a:pPr>
            <a:r>
              <a:rPr sz="750" b="0">
                <a:solidFill>
                  <a:srgbClr val="6B7482"/>
                </a:solidFill>
                <a:latin typeface="Segoe UI"/>
              </a:rPr>
              <a:t>wf 52e5bb73 · ~6 min incl. 2 approvals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4389120" y="4370832"/>
            <a:ext cx="5806440" cy="82296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98000"/>
              </a:lnSpc>
            </a:pPr>
            <a:r>
              <a:rPr sz="900" b="1">
                <a:solidFill>
                  <a:srgbClr val="1E9E62"/>
                </a:solidFill>
                <a:latin typeface="Segoe UI"/>
              </a:rPr>
              <a:t>✓ </a:t>
            </a:r>
            <a:r>
              <a:rPr sz="850" b="0">
                <a:solidFill>
                  <a:srgbClr val="22272E"/>
                </a:solidFill>
                <a:latin typeface="Segoe UI"/>
              </a:rPr>
              <a:t>Human-in-the-Loop pause ×2 (checkpointer)</a:t>
            </a:r>
          </a:p>
          <a:p>
            <a:pPr algn="l">
              <a:lnSpc>
                <a:spcPct val="98000"/>
              </a:lnSpc>
            </a:pPr>
            <a:r>
              <a:rPr sz="900" b="1">
                <a:solidFill>
                  <a:srgbClr val="1E9E62"/>
                </a:solidFill>
                <a:latin typeface="Segoe UI"/>
              </a:rPr>
              <a:t>✓ </a:t>
            </a:r>
            <a:r>
              <a:rPr sz="850" b="0">
                <a:solidFill>
                  <a:srgbClr val="22272E"/>
                </a:solidFill>
                <a:latin typeface="Segoe UI"/>
              </a:rPr>
              <a:t>Instant approvals +12.2s / +14.0s — no race, no wedge</a:t>
            </a:r>
          </a:p>
          <a:p>
            <a:pPr algn="l">
              <a:lnSpc>
                <a:spcPct val="98000"/>
              </a:lnSpc>
            </a:pPr>
            <a:r>
              <a:rPr sz="900" b="1">
                <a:solidFill>
                  <a:srgbClr val="1E9E62"/>
                </a:solidFill>
                <a:latin typeface="Segoe UI"/>
              </a:rPr>
              <a:t>✓ </a:t>
            </a:r>
            <a:r>
              <a:rPr sz="850" b="0">
                <a:solidFill>
                  <a:srgbClr val="22272E"/>
                </a:solidFill>
                <a:latin typeface="Segoe UI"/>
              </a:rPr>
              <a:t>Cross-run memory recall (host relay)</a:t>
            </a:r>
          </a:p>
          <a:p>
            <a:pPr algn="l">
              <a:lnSpc>
                <a:spcPct val="98000"/>
              </a:lnSpc>
            </a:pPr>
            <a:r>
              <a:rPr sz="900" b="1">
                <a:solidFill>
                  <a:srgbClr val="1E9E62"/>
                </a:solidFill>
                <a:latin typeface="Segoe UI"/>
              </a:rPr>
              <a:t>✓ </a:t>
            </a:r>
            <a:r>
              <a:rPr sz="850" b="0">
                <a:solidFill>
                  <a:srgbClr val="22272E"/>
                </a:solidFill>
                <a:latin typeface="Segoe UI"/>
              </a:rPr>
              <a:t>Results collection (15 records, green baseline)</a:t>
            </a:r>
          </a:p>
        </p:txBody>
      </p:sp>
      <p:sp>
        <p:nvSpPr>
          <p:cNvPr id="33" name="Rounded Rectangle 32"/>
          <p:cNvSpPr/>
          <p:nvPr/>
        </p:nvSpPr>
        <p:spPr>
          <a:xfrm>
            <a:off x="10378440" y="4645152"/>
            <a:ext cx="1170432" cy="274320"/>
          </a:xfrm>
          <a:prstGeom prst="roundRect">
            <a:avLst>
              <a:gd name="adj" fmla="val 50000"/>
            </a:avLst>
          </a:prstGeom>
          <a:solidFill>
            <a:srgbClr val="1E9E6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10378440" y="4645152"/>
            <a:ext cx="1170432" cy="2743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0000"/>
              </a:lnSpc>
            </a:pPr>
            <a:r>
              <a:rPr sz="1000" b="1">
                <a:solidFill>
                  <a:srgbClr val="FFFFFF"/>
                </a:solidFill>
                <a:latin typeface="Segoe UI"/>
              </a:rPr>
              <a:t>PASS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685800" y="5239512"/>
            <a:ext cx="1083564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0">
                <a:solidFill>
                  <a:srgbClr val="6B7482"/>
                </a:solidFill>
                <a:latin typeface="Segoe UI"/>
              </a:rPr>
              <a:t>✓ PASS — AgentVisor-wrapped (gVisor sandbox + host runtime), zero flakes / zero wedges. Agent 3 on the fixed wrapper (#42 diagnostics + #43 terminal-relay size-cap retry); Agent 5 HITL approvals fired INSTANTLY on detection (+12.2s / +14.0s from suspended_at — no 75s guard, registry #272 live on wus2).</a:t>
            </a:r>
          </a:p>
        </p:txBody>
      </p:sp>
      <p:cxnSp>
        <p:nvCxnSpPr>
          <p:cNvPr id="36" name="Connector 35"/>
          <p:cNvCxnSpPr/>
          <p:nvPr/>
        </p:nvCxnSpPr>
        <p:spPr>
          <a:xfrm>
            <a:off x="594360" y="6327648"/>
            <a:ext cx="11000232" cy="0"/>
          </a:xfrm>
          <a:prstGeom prst="bentConnector3">
            <a:avLst/>
          </a:prstGeom>
          <a:ln w="12700">
            <a:solidFill>
              <a:srgbClr val="D8D8D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7" name="TextBox 36"/>
          <p:cNvSpPr txBox="1"/>
          <p:nvPr/>
        </p:nvSpPr>
        <p:spPr>
          <a:xfrm>
            <a:off x="10378440" y="6501384"/>
            <a:ext cx="384048" cy="16459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r">
              <a:lnSpc>
                <a:spcPct val="100000"/>
              </a:lnSpc>
            </a:pPr>
            <a:r>
              <a:rPr sz="700" b="0">
                <a:solidFill>
                  <a:srgbClr val="8A8A86"/>
                </a:solidFill>
                <a:latin typeface="Segoe UI"/>
              </a:rPr>
              <a:t>83</a:t>
            </a:r>
          </a:p>
        </p:txBody>
      </p:sp>
      <p:sp>
        <p:nvSpPr>
          <p:cNvPr id="38" name="Rectangle 37"/>
          <p:cNvSpPr/>
          <p:nvPr/>
        </p:nvSpPr>
        <p:spPr>
          <a:xfrm>
            <a:off x="11850624" y="6556248"/>
            <a:ext cx="73152" cy="73152"/>
          </a:xfrm>
          <a:prstGeom prst="rect">
            <a:avLst/>
          </a:prstGeom>
          <a:solidFill>
            <a:srgbClr val="FF462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7" name="Imagen 8">
            <a:extLst>
              <a:ext uri="{FF2B5EF4-FFF2-40B4-BE49-F238E27FC236}">
                <a16:creationId xmlns:a16="http://schemas.microsoft.com/office/drawing/2014/main" id="{22918B08-630C-E64B-EEF7-8B3247010F2E}"/>
              </a:ext>
            </a:extLst>
          </p:cNvPr>
          <p:cNvPicPr>
            <a:picLocks noChangeAspect="1"/>
          </p:cNvPicPr>
          <p:nvPr/>
        </p:nvPicPr>
        <p:blipFill>
          <a:blip r:embed="rId7"/>
          <a:srcRect r="51667"/>
          <a:stretch>
            <a:fillRect/>
          </a:stretch>
        </p:blipFill>
        <p:spPr>
          <a:xfrm>
            <a:off x="11125462" y="6507493"/>
            <a:ext cx="516813" cy="170661"/>
          </a:xfrm>
          <a:prstGeom prst="rect">
            <a:avLst/>
          </a:prstGeom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